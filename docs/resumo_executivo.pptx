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BBCC"/>
                </a:solidFill>
              </a:rPr>
              <a:t>CASE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</a:rPr>
              <a:t>Pipeline Medallion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BBCC"/>
                </a:solidFill>
              </a:rPr>
              <a:t>9 fontes brutas  →  Star Schema Gold  →  BI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68880"/>
            <a:ext cx="2286000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697480"/>
            <a:ext cx="8321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34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F37"/>
                </a:solidFill>
              </a:rP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3405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</a:rPr>
              <a:t>Databricks Free Edition + Declarative Automation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36392"/>
            <a:ext cx="8321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F37"/>
                </a:solidFill>
              </a:rPr>
              <a:t>Camadas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17296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</a:rPr>
              <a:t>Landing → Bronze → Silver → Gold →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75304"/>
            <a:ext cx="8321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11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F37"/>
                </a:solidFill>
              </a:rPr>
              <a:t>Tabelas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118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</a:rPr>
              <a:t>9 Bronze  ·  9 Silver  ·  6 Dims + 4 Facts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14216"/>
            <a:ext cx="832104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F37"/>
                </a:solidFill>
              </a:rPr>
              <a:t>Orquestração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507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</a:rPr>
              <a:t>35 tasks  ·  5 ondas de execução paralela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21792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Ronnan  ·  ronnan_ok@hotmail.com  ·  github.com/techronnan/case_data_engineering_20052026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F37"/>
                </a:solidFill>
              </a:rPr>
              <a:t>O QUE FOI CONSTRUÍDO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BBCC"/>
                </a:solidFill>
              </a:rPr>
              <a:t>Arquitetura Medallion — fluxo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417320" cy="3291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</a:rPr>
              <a:t>LANDING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F5F5"/>
                </a:solidFill>
              </a:rPr>
              <a:t>6 notebooks
1 por formato
(CSV/JSON/XLSX
NDJSON/TXT/Parquet)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960120"/>
            <a:ext cx="1417320" cy="3291840"/>
          </a:xfrm>
          <a:prstGeom prst="rect">
            <a:avLst/>
          </a:prstGeom>
          <a:solidFill>
            <a:srgbClr val="A2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987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37160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F5F5"/>
                </a:solidFill>
              </a:rPr>
              <a:t>9 notebooks
AutoLoader
streaming
openpyxl (XLSX)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960120"/>
            <a:ext cx="1417320" cy="32918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987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37160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F5F5"/>
                </a:solidFill>
              </a:rPr>
              <a:t>9 notebooks
Limpeza · tipos
status canônico
dedup + flags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960120"/>
            <a:ext cx="1417320" cy="3291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987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</a:rPr>
              <a:t>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37160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F5F5"/>
                </a:solidFill>
              </a:rPr>
              <a:t>10 tabelas
6 Dims
4 Facts
Star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960120"/>
            <a:ext cx="1417320" cy="3291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98755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371600"/>
            <a:ext cx="1325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F5F5"/>
                </a:solidFill>
              </a:rPr>
              <a:t>1 notebook
5 perguntas
de negócio
respondidas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F37"/>
                </a:solidFill>
              </a:rPr>
              <a:t>Destaques de implementação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09160"/>
            <a:ext cx="40690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36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35 tasks no DAG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109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5 ondas de execução com máximo paralelismo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709160"/>
            <a:ext cx="40690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7365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Orquestração declarativa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0109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Declarative Automation Bundles (DAB) — dev + prod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40680"/>
            <a:ext cx="40690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681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Unity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424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Catálogos isolados por ambiente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5440680"/>
            <a:ext cx="40690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4681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Delta Lake + MERGE INTO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7424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Cargas idempotentes com dsRefChave determinístico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F37"/>
                </a:solidFill>
              </a:rPr>
              <a:t>PRINCIPAIS DECISÕES TÉCNICAS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59436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675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Medallion 4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00584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Bronze preserva o original para reprocessamento; Silver isola limpeza; Gold isola modelagem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59436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59436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6675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Star Schema no Gold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1" y="100584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Padrão nativo Power BI/Tableau — analista acessa sem transformações adicionais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024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9933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Gold lê apenas 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33172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Nenhuma tabela Gold lê outra Gold — dims e facts derivados diretamente do Silver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192024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59" y="192024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1" y="19933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Surrogate keys inline via 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1" y="233172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row_number() OVER (ORDER BY PK) replicado — evita dependência Gold→Gold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192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AutoLoader availableNow=True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5760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Micro-batch processa apenas arquivos novos — idempotente e eficiente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4612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59" y="324612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1" y="33192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Landing por formato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1" y="365760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Cada Bronze sobe assim que seu formato conclui — sem esperar outros formatos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645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DAG em 2 ondas no Gold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98348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Onda 1: 6 dims em paralelo → Onda 2: 4 facts em paralelo — garante integridade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59" y="457200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59" y="4572000"/>
            <a:ext cx="73152" cy="12344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1" y="46451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openpyxl sem 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1" y="4983480"/>
            <a:ext cx="3931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Free Edition não suporta pandas por padrão; openpyxl + createDataFrame é suficiente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F37"/>
                </a:solidFill>
              </a:rPr>
              <a:t>PRINCIPAIS DESAFIOS ENCONTRADOS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59436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64008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Datas em 4+ formatos distintos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parse_date_multi_format() — coalesce(to_date(f1), to_date(f2), ...) cobrindo todos os padrões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59436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59436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64008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Status com espaço vs underscore
(EM SEPARACAO / EM_SEPARACAO)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5156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regexp_replace(upper(trim(status)), '\s+', '_') na Silver — normaliza qualquer variante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2024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6596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~5% pedidos com status nulo/vazio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7744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CASE WHEN vazio/nulo → 'INDEFINIDO' — mantidos no pipeline com valor canônico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192024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59" y="192024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6596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order_id inconsistente entre fontes
(case + espaços variados)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37744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upper(trim(order_id)) em todos os notebooks Silver — chave uniforme para JOIN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4612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291839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JSON multinível aninhado
(product.pricing.list_price)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70332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Acesso por ponto no SparkSQL com flatten explícito dos campos de interesse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4612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59" y="324612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291839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Checkpoints efêmeros em serverless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70332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Movidos de /tmp/ para UC Volume — persiste entre tasks do job sem perda de estado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461772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XLSX fora do suporte AutoLoader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02920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Leitura via openpyxl com iteração por linha + spark.createDataFrame()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59" y="4572000"/>
            <a:ext cx="42062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59" y="4572000"/>
            <a:ext cx="4206240" cy="420624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61772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A65"/>
                </a:solidFill>
              </a:rPr>
              <a:t>2 fontes ERP no mesmo formato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029200"/>
            <a:ext cx="39776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Subdiretórios separados por sistema — evita conflito de schema no AutoLoader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F37"/>
                </a:solidFill>
              </a:rPr>
              <a:t>VISÃO GERAL DO MODELO FINAL — 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customer_key | customer_code
name · region ·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45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96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product_key | product_id
name · category ·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395728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32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dim_regioes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7066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region_key | region_code
uf · macro_region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282696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319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dim_canais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935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channel_key | channel_id
channel_name · channel_type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169663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dim_vendedores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805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seller_key | seller_id
name ·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056631"/>
            <a:ext cx="2286000" cy="804672"/>
          </a:xfrm>
          <a:prstGeom prst="rect">
            <a:avLst/>
          </a:prstGeom>
          <a:solidFill>
            <a:srgbClr val="1A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932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F5F5"/>
                </a:solidFill>
              </a:rPr>
              <a:t>dim_tempo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6752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BBBBCC"/>
                </a:solidFill>
              </a:rPr>
              <a:t>date_key (YYYYMMDD)
year · month · quarter · weekday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621792"/>
            <a:ext cx="4069080" cy="13258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621792"/>
            <a:ext cx="91440" cy="1325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6675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fact_pedidos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005840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order_key · customer_key · seller_key
channel_key · date_key · region_key
gross_amount · discount_amount · net_amount ·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057400"/>
            <a:ext cx="4069080" cy="13258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057400"/>
            <a:ext cx="91440" cy="1325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1031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fact_itens_pedido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441448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item_key · order_key · product_key
quantity · unit_price · total_price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493008"/>
            <a:ext cx="4069080" cy="13258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493008"/>
            <a:ext cx="91440" cy="1325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5387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fact_entregas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877056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delivery_key · order_key · date_key
region_key · is_late · delivery_days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928616"/>
            <a:ext cx="4069080" cy="132588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6320" y="4928616"/>
            <a:ext cx="91440" cy="1325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97433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</a:rPr>
              <a:t>fact_ocorrencias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12664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ticket_key · order_key · customer_key
date_key · category · status · resolution_days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3108960"/>
            <a:ext cx="23317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87168" y="31089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CC"/>
                </a:solidFill>
              </a:rPr>
              <a:t>← FK keys resolvem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577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5376"/>
                </a:solidFill>
              </a:rPr>
              <a:t>DIM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577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9B6"/>
                </a:solidFill>
              </a:rPr>
              <a:t>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BBBCC"/>
                </a:solidFill>
              </a:rPr>
              <a:t>Granularidade: 1 linha por pedido · 1 por item · 1 por entrega · 1 por ticket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F37"/>
                </a:solidFill>
              </a:rPr>
              <a:t>PRÓXIMOS PASSOS RECOMENDADOS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50292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594360"/>
            <a:ext cx="8046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92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SCD Tipo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235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F37"/>
                </a:solidFill>
              </a:rPr>
              <a:t>dim_clientes e dim_vendedores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6128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Preserva histórico de alterações cadastrais para análises "como era em tal data" — essencial para auditoria e análise retrospectiva.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0292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1691640"/>
            <a:ext cx="8046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46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Camada gold_agg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20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F37"/>
                </a:solidFill>
              </a:rPr>
              <a:t>Tabelas pré-agregadas por mês / canal / região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5856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Reduz latência de dashboards de centenas de milissegundos para dezenas — consultas BI não precisam varrer toda a 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88920"/>
            <a:ext cx="50292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06323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788920"/>
            <a:ext cx="8046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437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Lakeflow Spark Declarative Pipelines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1810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F37"/>
                </a:solidFill>
              </a:rPr>
              <a:t>Substituição dos MERGE manuais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5584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Pipelines declarativos com expectativas de qualidade nativas (expect_or_drop) — menos código, mais governança.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50292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6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" y="3886200"/>
            <a:ext cx="8046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4106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Testes de qualidade formalizados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153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F37"/>
                </a:solidFill>
              </a:rPr>
              <a:t>Great Expectations ou Databricks DQ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5312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Regras de completude, unicidade e integridade referencial executadas antes da carga Gold — falha explícita antes de contaminar o modelo.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83480"/>
            <a:ext cx="502920" cy="10058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F5F5"/>
                </a:solidFill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" y="4983480"/>
            <a:ext cx="804672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038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</a:rPr>
              <a:t>Catálogo via Unity Catalog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126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94F37"/>
                </a:solidFill>
              </a:rPr>
              <a:t>COMMENT ON TABLE/COLUMN nas tabelas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5040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CC"/>
                </a:solidFill>
              </a:rPr>
              <a:t>Autodocumentação navegável pelo analista de BI — reduz onboarding e dependência do engenheiro para responder dúvidas de schema.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
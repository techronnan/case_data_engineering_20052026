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10" d="100"/>
          <a:sy n="110" d="100"/>
        </p:scale>
        <p:origin x="126" y="21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Pipeline Medallion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6B35"/>
                </a:solidFill>
              </a:rPr>
              <a:t>End-to-End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9260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888AA"/>
                </a:solidFill>
              </a:rPr>
              <a:t>Case Técnico · Engenheiro de Dados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429000"/>
            <a:ext cx="8229600" cy="228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2560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6B35"/>
                </a:solidFill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4348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88AA"/>
                </a:solidFill>
              </a:rPr>
              <a:t>fontes brutas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3703320"/>
            <a:ext cx="2560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6B35"/>
                </a:solidFill>
              </a:rPr>
              <a:t>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44348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88AA"/>
                </a:solidFill>
              </a:rPr>
              <a:t>tasks no DAG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3703320"/>
            <a:ext cx="2560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6B35"/>
                </a:solidFill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44348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88AA"/>
                </a:solidFill>
              </a:rPr>
              <a:t>tabelas Gold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937760"/>
            <a:ext cx="8229600" cy="228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51206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88AA"/>
                </a:solidFill>
              </a:rPr>
              <a:t>Databricks Free Edition  ·  Declarative Automation Bundles  ·  Delta Lake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6B35"/>
                </a:solidFill>
              </a:rPr>
              <a:t>O QUE FOI CONSTRUÍDO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Arquitetura Medallion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80160"/>
            <a:ext cx="1417320" cy="1417320"/>
          </a:xfrm>
          <a:prstGeom prst="rect">
            <a:avLst/>
          </a:prstGeom>
          <a:solidFill>
            <a:srgbClr val="236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1325880"/>
            <a:ext cx="1417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901952"/>
            <a:ext cx="1417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LANDING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176272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DDDDEE"/>
                </a:solidFill>
              </a:rPr>
              <a:t>por formato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9928" y="1783080"/>
            <a:ext cx="2377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8888AA"/>
                </a:solidFill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56816" y="1280160"/>
            <a:ext cx="1417320" cy="1417320"/>
          </a:xfrm>
          <a:prstGeom prst="rect">
            <a:avLst/>
          </a:prstGeom>
          <a:solidFill>
            <a:srgbClr val="A0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956816" y="1325880"/>
            <a:ext cx="1417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56816" y="1901952"/>
            <a:ext cx="1417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BRONZE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6816" y="2176272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DDDDEE"/>
                </a:solidFill>
              </a:rPr>
              <a:t>notebooks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2424" y="1783080"/>
            <a:ext cx="2377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8888AA"/>
                </a:solidFill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39312" y="1280160"/>
            <a:ext cx="1417320" cy="1417320"/>
          </a:xfrm>
          <a:prstGeom prst="rect">
            <a:avLst/>
          </a:prstGeom>
          <a:solidFill>
            <a:srgbClr val="C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39312" y="1325880"/>
            <a:ext cx="1417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9312" y="1901952"/>
            <a:ext cx="1417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SILVER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9312" y="2176272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DDDDEE"/>
                </a:solidFill>
              </a:rPr>
              <a:t>notebooks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1783080"/>
            <a:ext cx="2377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8888AA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21808" y="1280160"/>
            <a:ext cx="1417320" cy="1417320"/>
          </a:xfrm>
          <a:prstGeom prst="rect">
            <a:avLst/>
          </a:prstGeom>
          <a:solidFill>
            <a:srgbClr val="1A8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321808" y="1325880"/>
            <a:ext cx="1417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21808" y="1901952"/>
            <a:ext cx="1417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GOLD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21808" y="2176272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DDDDEE"/>
                </a:solidFill>
              </a:rPr>
              <a:t>tabelas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57416" y="1783080"/>
            <a:ext cx="2377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8888AA"/>
                </a:solidFill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04304" y="1280160"/>
            <a:ext cx="1417320" cy="1417320"/>
          </a:xfrm>
          <a:prstGeom prst="rect">
            <a:avLst/>
          </a:prstGeom>
          <a:solidFill>
            <a:srgbClr val="6A3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004304" y="1325880"/>
            <a:ext cx="1417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04304" y="1901952"/>
            <a:ext cx="1417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ANALYTICS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04304" y="2176272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DDDDEE"/>
                </a:solidFill>
              </a:rPr>
              <a:t>notebook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2944368"/>
            <a:ext cx="2011680" cy="8229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274320" y="2944368"/>
            <a:ext cx="54864" cy="8229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38912" y="2999232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35 tasks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12" y="3291840"/>
            <a:ext cx="1783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AA"/>
                </a:solidFill>
              </a:rPr>
              <a:t>5 ondas de execução paralela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441448" y="2944368"/>
            <a:ext cx="2011680" cy="8229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2441448" y="2944368"/>
            <a:ext cx="54864" cy="822960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2606040" y="2999232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DAB dev + prod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06040" y="3291840"/>
            <a:ext cx="1783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AA"/>
                </a:solidFill>
              </a:rPr>
              <a:t>Declarative Automation Bundles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608576" y="2944368"/>
            <a:ext cx="2011680" cy="8229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4608576" y="2944368"/>
            <a:ext cx="54864" cy="82296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773168" y="2999232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Idempotente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73168" y="3291840"/>
            <a:ext cx="1783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AA"/>
                </a:solidFill>
              </a:rPr>
              <a:t>MERGE INTO com dsRefChave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775704" y="2944368"/>
            <a:ext cx="2011680" cy="8229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775704" y="2944368"/>
            <a:ext cx="54864" cy="8229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940296" y="2999232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Unity Catalog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40296" y="3291840"/>
            <a:ext cx="1783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AA"/>
                </a:solidFill>
              </a:rPr>
              <a:t>Catálogos por ambiente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3931920"/>
            <a:ext cx="8229600" cy="228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57200" y="404164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888AA"/>
                </a:solidFill>
              </a:rPr>
              <a:t>MODELO GOLD — STAR SCHEMA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474720" y="5166360"/>
            <a:ext cx="1828800" cy="512064"/>
          </a:xfrm>
          <a:prstGeom prst="rect">
            <a:avLst/>
          </a:prstGeom>
          <a:solidFill>
            <a:srgbClr val="5A1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3474720" y="5184648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4 FATOS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14400" y="4434840"/>
            <a:ext cx="1554480" cy="411480"/>
          </a:xfrm>
          <a:prstGeom prst="rect">
            <a:avLst/>
          </a:prstGeom>
          <a:solidFill>
            <a:srgbClr val="0A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60120" y="4471416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EC8FF"/>
                </a:solidFill>
              </a:rPr>
              <a:t>dim_clientes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14400" y="5532120"/>
            <a:ext cx="1554480" cy="411480"/>
          </a:xfrm>
          <a:prstGeom prst="rect">
            <a:avLst/>
          </a:prstGeom>
          <a:solidFill>
            <a:srgbClr val="0A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960120" y="5568696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EC8FF"/>
                </a:solidFill>
              </a:rPr>
              <a:t>dim_produtos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566160" y="4212335"/>
            <a:ext cx="1554480" cy="411480"/>
          </a:xfrm>
          <a:prstGeom prst="rect">
            <a:avLst/>
          </a:prstGeom>
          <a:solidFill>
            <a:srgbClr val="0A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3611880" y="4248911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EC8FF"/>
                </a:solidFill>
              </a:rPr>
              <a:t>dim_regioes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11880" y="6217920"/>
            <a:ext cx="1554480" cy="411480"/>
          </a:xfrm>
          <a:prstGeom prst="rect">
            <a:avLst/>
          </a:prstGeom>
          <a:solidFill>
            <a:srgbClr val="0A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3657600" y="6254496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EC8FF"/>
                </a:solidFill>
              </a:rPr>
              <a:t>dim_canais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99048" y="4398264"/>
            <a:ext cx="1554480" cy="411480"/>
          </a:xfrm>
          <a:prstGeom prst="rect">
            <a:avLst/>
          </a:prstGeom>
          <a:solidFill>
            <a:srgbClr val="0A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144768" y="4434840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 dirty="0" err="1">
                <a:solidFill>
                  <a:srgbClr val="7EC8FF"/>
                </a:solidFill>
              </a:rPr>
              <a:t>dim_vendedores</a:t>
            </a:r>
            <a:endParaRPr sz="850" b="0" i="0" dirty="0">
              <a:solidFill>
                <a:srgbClr val="7EC8FF"/>
              </a:solidFill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6144768" y="5943600"/>
            <a:ext cx="1554480" cy="411480"/>
          </a:xfrm>
          <a:prstGeom prst="rect">
            <a:avLst/>
          </a:prstGeom>
          <a:solidFill>
            <a:srgbClr val="0A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190488" y="5980176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EC8FF"/>
                </a:solidFill>
              </a:rPr>
              <a:t>dim_tempo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6B35"/>
                </a:solidFill>
              </a:rPr>
              <a:t>DECISÕES TÉCNICAS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Como e por quê foi assim construído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43000"/>
            <a:ext cx="8229600" cy="228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8229600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64008" cy="914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37160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Medallion 4 camadas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55648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AA"/>
                </a:solidFill>
              </a:rPr>
              <a:t>Bronze preserva o raw · Silver isola limpeza · Gold isola modelagem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304288"/>
            <a:ext cx="8229600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2304288"/>
            <a:ext cx="64008" cy="914400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239572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Star Schema Kimball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779776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AA"/>
                </a:solidFill>
              </a:rPr>
              <a:t>Padrão nativo de BI — analista consome sem transformações adicionais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328416"/>
            <a:ext cx="8229600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7200" y="3328416"/>
            <a:ext cx="64008" cy="9144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341985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Gold lê apenas Silver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803904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AA"/>
                </a:solidFill>
              </a:rPr>
              <a:t>Surrogate keys gerados inline via CTE — zero dependência Gold → Gold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352544"/>
            <a:ext cx="8229600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57200" y="4352544"/>
            <a:ext cx="64008" cy="914400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" y="4443983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AutoLoader · availableNow=True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828031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AA"/>
                </a:solidFill>
              </a:rPr>
              <a:t>Streaming micro-batch · processa só arquivos novos · idempotente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376672"/>
            <a:ext cx="8229600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57200" y="5376672"/>
            <a:ext cx="64008" cy="91440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85800" y="5468112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Landing por formato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852160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AA"/>
                </a:solidFill>
              </a:rPr>
              <a:t>Cada Bronze sobe quando seu formato termina — máximo paralelismo no DAG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6B35"/>
                </a:solidFill>
              </a:rPr>
              <a:t>DESAFIOS DE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Problemas encontrados e como foram resolvidos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43000"/>
            <a:ext cx="8229600" cy="228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8229600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64008" cy="914400"/>
          </a:xfrm>
          <a:prstGeom prst="rect">
            <a:avLst/>
          </a:prstGeom>
          <a:solidFill>
            <a:srgbClr val="FF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353312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9988"/>
                </a:solidFill>
              </a:rPr>
              <a:t>Datas em 4+ formatos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55648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AA"/>
                </a:solidFill>
              </a:rPr>
              <a:t>coalesce(to_date(fmt1), to_date(fmt2), ...) → parse_date_multi_format()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304288"/>
            <a:ext cx="8229600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2304288"/>
            <a:ext cx="64008" cy="914400"/>
          </a:xfrm>
          <a:prstGeom prst="rect">
            <a:avLst/>
          </a:prstGeom>
          <a:solidFill>
            <a:srgbClr val="FF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2377440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9988"/>
                </a:solidFill>
              </a:rPr>
              <a:t>Status com espaço  EM SEPARACAO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779776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AA"/>
                </a:solidFill>
              </a:rPr>
              <a:t>regexp_replace(upper(trim(status)), '\\s+', '_') → EM_SEPARACAO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328416"/>
            <a:ext cx="8229600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7200" y="3328416"/>
            <a:ext cx="64008" cy="914400"/>
          </a:xfrm>
          <a:prstGeom prst="rect">
            <a:avLst/>
          </a:prstGeom>
          <a:solidFill>
            <a:srgbClr val="FF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3401568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9988"/>
                </a:solidFill>
              </a:rPr>
              <a:t>~5% pedidos sem status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803904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AA"/>
                </a:solidFill>
              </a:rPr>
              <a:t>CASE WHEN nulo/vazio → 'INDEFINIDO' — mantidos com valor canônico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352544"/>
            <a:ext cx="8229600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57200" y="4352544"/>
            <a:ext cx="64008" cy="914400"/>
          </a:xfrm>
          <a:prstGeom prst="rect">
            <a:avLst/>
          </a:prstGeom>
          <a:solidFill>
            <a:srgbClr val="FF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" y="4425696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9988"/>
                </a:solidFill>
              </a:rPr>
              <a:t>order_id inconsistente entre sistemas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828031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AA"/>
                </a:solidFill>
              </a:rPr>
              <a:t>upper(trim(order_id)) em toda a Silver — chave uniforme para JOIN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6B35"/>
                </a:solidFill>
              </a:rPr>
              <a:t>MODELO FINAL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Star Schema Gold — pronto para BI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43000"/>
            <a:ext cx="8229600" cy="228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429000" y="2834640"/>
            <a:ext cx="2286000" cy="1097280"/>
          </a:xfrm>
          <a:prstGeom prst="rect">
            <a:avLst/>
          </a:prstGeom>
          <a:solidFill>
            <a:srgbClr val="501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429000" y="2880360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FATOS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20440" y="3182112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AAFF"/>
                </a:solidFill>
              </a:rPr>
              <a:t>· fact_pedidos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3355848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AAFF"/>
                </a:solidFill>
              </a:rPr>
              <a:t>· fact_itens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3529584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AAFF"/>
                </a:solidFill>
              </a:rPr>
              <a:t>· fact_entregas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3703320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AAFF"/>
                </a:solidFill>
              </a:rPr>
              <a:t>· fact_ocorrencias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828800"/>
            <a:ext cx="2194560" cy="658368"/>
          </a:xfrm>
          <a:prstGeom prst="rect">
            <a:avLst/>
          </a:prstGeom>
          <a:solidFill>
            <a:srgbClr val="0A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5760" y="1892807"/>
            <a:ext cx="20116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EC8FF"/>
                </a:solidFill>
              </a:rPr>
              <a:t>dim_clientes
1 linha / cliente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4206240"/>
            <a:ext cx="2194560" cy="658368"/>
          </a:xfrm>
          <a:prstGeom prst="rect">
            <a:avLst/>
          </a:prstGeom>
          <a:solidFill>
            <a:srgbClr val="0A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5760" y="4270248"/>
            <a:ext cx="20116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EC8FF"/>
                </a:solidFill>
              </a:rPr>
              <a:t>dim_produtos
1 linha / produto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234440"/>
            <a:ext cx="2743200" cy="658368"/>
          </a:xfrm>
          <a:prstGeom prst="rect">
            <a:avLst/>
          </a:prstGeom>
          <a:solidFill>
            <a:srgbClr val="0A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291840" y="1298448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EC8FF"/>
                </a:solidFill>
              </a:rPr>
              <a:t>dim_regioes
1 linha / região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5120640"/>
            <a:ext cx="2743200" cy="658368"/>
          </a:xfrm>
          <a:prstGeom prst="rect">
            <a:avLst/>
          </a:prstGeom>
          <a:solidFill>
            <a:srgbClr val="0A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291840" y="5184648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EC8FF"/>
                </a:solidFill>
              </a:rPr>
              <a:t>dim_canais
1 linha / canal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75120" y="1828800"/>
            <a:ext cx="2194560" cy="658368"/>
          </a:xfrm>
          <a:prstGeom prst="rect">
            <a:avLst/>
          </a:prstGeom>
          <a:solidFill>
            <a:srgbClr val="0A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66559" y="1892807"/>
            <a:ext cx="20116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EC8FF"/>
                </a:solidFill>
              </a:rPr>
              <a:t>dim_vendedores
1 linha / vendedor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75120" y="4206240"/>
            <a:ext cx="2194560" cy="658368"/>
          </a:xfrm>
          <a:prstGeom prst="rect">
            <a:avLst/>
          </a:prstGeom>
          <a:solidFill>
            <a:srgbClr val="0A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766559" y="4270248"/>
            <a:ext cx="20116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EC8FF"/>
                </a:solidFill>
              </a:rPr>
              <a:t>dim_tempo
1 linha / dia 2024–2027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6035040"/>
            <a:ext cx="8229600" cy="228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200" y="612648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AA"/>
                </a:solidFill>
              </a:rPr>
              <a:t>Granularidade  ·  1 linha por:  pedido  |  item de pedido  |  entrega  |  ticket de atendimento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6B35"/>
                </a:solidFill>
              </a:rPr>
              <a:t>PRÓXIMOS PASSOS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Evolução recomendada da solução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43000"/>
            <a:ext cx="8229600" cy="228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502920" cy="914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536192"/>
            <a:ext cx="502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987552" y="1280160"/>
            <a:ext cx="7699248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15568" y="1371600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SCD Tipo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755648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AA"/>
                </a:solidFill>
              </a:rPr>
              <a:t>dim_clientes e dim_vendedores · preserva histórico de alterações cadastrais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04288"/>
            <a:ext cx="502920" cy="914400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2560320"/>
            <a:ext cx="502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87552" y="2304288"/>
            <a:ext cx="7699248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15568" y="2395728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Camada gold_agg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2779776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AA"/>
                </a:solidFill>
              </a:rPr>
              <a:t>Pré-agrega por mês / canal / região · reduz latência de dashboards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28416"/>
            <a:ext cx="502920" cy="9144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" y="3584448"/>
            <a:ext cx="502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87552" y="3328416"/>
            <a:ext cx="7699248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115568" y="3419856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Lakeflow Spark Declarative Pipelines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3803904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AA"/>
                </a:solidFill>
              </a:rPr>
              <a:t>Substitui MERGE manual por pipelines declarativas com expect_or_drop nativo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352544"/>
            <a:ext cx="502920" cy="914400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" y="4608576"/>
            <a:ext cx="502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87552" y="4352544"/>
            <a:ext cx="7699248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115568" y="4443983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Testes de qualidade — Databricks DQ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" y="4828031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AA"/>
                </a:solidFill>
              </a:rPr>
              <a:t>Regras de completude, unicidade e integridade antes da carga Gold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376672"/>
            <a:ext cx="502920" cy="91440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57200" y="5632704"/>
            <a:ext cx="502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87552" y="5376672"/>
            <a:ext cx="7699248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115568" y="5468112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Catálogo Unity Catalog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" y="5852160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AA"/>
                </a:solidFill>
              </a:rPr>
              <a:t>COMMENT ON TABLE/COLUMN · autodocumentação navegável pelo analista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471</Words>
  <Application>Microsoft Office PowerPoint</Application>
  <PresentationFormat>Apresentação na tela (4:3)</PresentationFormat>
  <Paragraphs>100</Paragraphs>
  <Slides>6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RONNAN CONCEIÇÃO LIMA</cp:lastModifiedBy>
  <cp:revision>2</cp:revision>
  <dcterms:created xsi:type="dcterms:W3CDTF">2013-01-27T09:14:16Z</dcterms:created>
  <dcterms:modified xsi:type="dcterms:W3CDTF">2026-05-25T19:11:39Z</dcterms:modified>
  <cp:category/>
</cp:coreProperties>
</file>